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mbria" panose="02040503050406030204" pitchFamily="18" charset="0"/>
      <p:regular r:id="rId15"/>
      <p:bold r:id="rId16"/>
      <p:italic r:id="rId17"/>
      <p:boldItalic r:id="rId18"/>
    </p:embeddedFont>
    <p:embeddedFont>
      <p:font typeface="DM Sans" pitchFamily="2" charset="0"/>
      <p:regular r:id="rId19"/>
      <p:bold r:id="rId20"/>
      <p:italic r:id="rId21"/>
      <p:boldItalic r:id="rId22"/>
    </p:embeddedFont>
    <p:embeddedFont>
      <p:font typeface="DM Sans Medium" pitchFamily="2" charset="0"/>
      <p:regular r:id="rId23"/>
      <p:bold r:id="rId24"/>
      <p:italic r:id="rId25"/>
      <p:boldItalic r:id="rId26"/>
    </p:embeddedFont>
    <p:embeddedFont>
      <p:font typeface="Merriweather" panose="000005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F95CE08-C6F7-4DF8-9DF5-DDE2EEDDF53E}">
  <a:tblStyle styleId="{1F95CE08-C6F7-4DF8-9DF5-DDE2EEDDF53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4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14.pn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4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50.png"/><Relationship Id="rId3" Type="http://schemas.openxmlformats.org/officeDocument/2006/relationships/image" Target="../media/image14.png"/><Relationship Id="rId7" Type="http://schemas.openxmlformats.org/officeDocument/2006/relationships/image" Target="../media/image22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48.png"/><Relationship Id="rId5" Type="http://schemas.openxmlformats.org/officeDocument/2006/relationships/image" Target="../media/image20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4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14.png"/><Relationship Id="rId9" Type="http://schemas.openxmlformats.org/officeDocument/2006/relationships/image" Target="../media/image6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2512613" y="600016"/>
            <a:ext cx="7784917" cy="995919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cs typeface="+mj-lt"/>
              </a:rPr>
              <a:t>DeepVision AI</a:t>
            </a:r>
            <a:br>
              <a:rPr lang="en-US" sz="3600" b="1" dirty="0">
                <a:solidFill>
                  <a:schemeClr val="accent1"/>
                </a:solidFill>
                <a:cs typeface="+mj-lt"/>
              </a:rPr>
            </a:br>
            <a:r>
              <a:rPr lang="en-US" sz="3600" b="1" dirty="0">
                <a:solidFill>
                  <a:schemeClr val="accent1"/>
                </a:solidFill>
                <a:cs typeface="+mj-lt"/>
              </a:rPr>
              <a:t>AI-Powered Fake Image Detection System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705179" y="2013144"/>
            <a:ext cx="3399784" cy="7078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34" tIns="45717" rIns="91434" bIns="45717" numCol="1" anchor="ctr" anchorCtr="0" compatLnSpc="1">
            <a:spAutoFit/>
          </a:bodyPr>
          <a:lstStyle/>
          <a:p>
            <a:pPr algn="ctr" defTabSz="1219107" fontAlgn="base"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libri" panose="020F0502020204030204" pitchFamily="34" charset="0"/>
                <a:cs typeface="Microsoft Sans Serif" panose="020B0604020202020204" charset="0"/>
              </a:rPr>
              <a:t>Under The Guidance Of</a:t>
            </a:r>
          </a:p>
          <a:p>
            <a:pPr algn="ctr" defTabSz="1219107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rgbClr val="0070C0"/>
                </a:solidFill>
                <a:latin typeface="Cambria" panose="02040503050406030204" pitchFamily="18" charset="0"/>
                <a:ea typeface="Calibri" panose="020F0502020204030204" pitchFamily="34" charset="0"/>
                <a:cs typeface="Microsoft Sans Serif" panose="020B0604020202020204" charset="0"/>
              </a:rPr>
              <a:t>Prof. Saumil Trivedi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5174" y="4635242"/>
            <a:ext cx="45985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mbria" panose="02040503050406030204" pitchFamily="18" charset="0"/>
              </a:rPr>
              <a:t>Submitted To:</a:t>
            </a:r>
            <a:endParaRPr lang="en-US" sz="1800" dirty="0">
              <a:latin typeface="Cambria" panose="02040503050406030204" pitchFamily="18" charset="0"/>
            </a:endParaRPr>
          </a:p>
          <a:p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Department of MCA</a:t>
            </a:r>
          </a:p>
          <a:p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Faculty of IT &amp; Computer Science,</a:t>
            </a:r>
          </a:p>
          <a:p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</a:rPr>
              <a:t>PARUL University</a:t>
            </a:r>
            <a:endParaRPr lang="en-US" sz="2200" b="1" dirty="0">
              <a:solidFill>
                <a:schemeClr val="accent4">
                  <a:lumMod val="75000"/>
                </a:schemeClr>
              </a:solidFill>
              <a:latin typeface="Cambria" panose="02040503050406030204" pitchFamily="18" charset="0"/>
            </a:endParaRPr>
          </a:p>
        </p:txBody>
      </p:sp>
      <p:pic>
        <p:nvPicPr>
          <p:cNvPr id="12" name="Picture 11" descr="C:\Users\HP\Desktop\pu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0183" y="4553993"/>
            <a:ext cx="2447739" cy="1577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2935014" y="2758942"/>
            <a:ext cx="6335039" cy="20620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34" tIns="45717" rIns="91434" bIns="45717" numCol="1" anchor="ctr" anchorCtr="0" compatLnSpc="1">
            <a:spAutoFit/>
          </a:bodyPr>
          <a:lstStyle/>
          <a:p>
            <a:pPr indent="609553" algn="ctr" defTabSz="1219107" fontAlgn="base">
              <a:spcBef>
                <a:spcPct val="0"/>
              </a:spcBef>
              <a:spcAft>
                <a:spcPct val="0"/>
              </a:spcAft>
            </a:pP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libri" panose="020F0502020204030204" pitchFamily="34" charset="0"/>
                <a:cs typeface="Microsoft Sans Serif" panose="020B0604020202020204" charset="0"/>
              </a:rPr>
              <a:t>Developed By</a:t>
            </a:r>
            <a:r>
              <a:rPr lang="en-US" sz="2000" b="1" dirty="0">
                <a:solidFill>
                  <a:srgbClr val="1F497D"/>
                </a:solidFill>
                <a:latin typeface="Cambria" panose="02040503050406030204" pitchFamily="18" charset="0"/>
                <a:ea typeface="Calibri" panose="020F0502020204030204" pitchFamily="34" charset="0"/>
                <a:cs typeface="Microsoft Sans Serif" panose="020B0604020202020204" charset="0"/>
              </a:rPr>
              <a:t> </a:t>
            </a:r>
          </a:p>
          <a:p>
            <a:pPr indent="609553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rgbClr val="0070C0"/>
                </a:solidFill>
                <a:latin typeface="Cambria" panose="02040503050406030204" pitchFamily="18" charset="0"/>
                <a:ea typeface="Calibri" panose="020F0502020204030204" pitchFamily="34" charset="0"/>
                <a:cs typeface="Microsoft Sans Serif" panose="020B0604020202020204" charset="0"/>
              </a:rPr>
              <a:t>Mayank Mali (2505112120085)</a:t>
            </a:r>
          </a:p>
          <a:p>
            <a:pPr indent="609553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rgbClr val="0070C0"/>
                </a:solidFill>
                <a:latin typeface="Cambria" panose="02040503050406030204" pitchFamily="18" charset="0"/>
                <a:ea typeface="Calibri" panose="020F0502020204030204" pitchFamily="34" charset="0"/>
                <a:cs typeface="Microsoft Sans Serif" panose="020B0604020202020204" charset="0"/>
              </a:rPr>
              <a:t>Zala Dhruvraj  (2505112120009)</a:t>
            </a:r>
          </a:p>
          <a:p>
            <a:pPr indent="609553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rgbClr val="0070C0"/>
                </a:solidFill>
                <a:latin typeface="Cambria" panose="02040503050406030204" pitchFamily="18" charset="0"/>
                <a:ea typeface="Calibri" panose="020F0502020204030204" pitchFamily="34" charset="0"/>
                <a:cs typeface="Microsoft Sans Serif" panose="020B0604020202020204" charset="0"/>
              </a:rPr>
              <a:t>Pitroda Priyanshi (2505112120106)</a:t>
            </a:r>
          </a:p>
          <a:p>
            <a:pPr indent="609553" algn="ctr" fontAlgn="base">
              <a:spcBef>
                <a:spcPct val="0"/>
              </a:spcBef>
              <a:spcAft>
                <a:spcPct val="0"/>
              </a:spcAft>
            </a:pPr>
            <a:endParaRPr lang="en-US" sz="2200" dirty="0">
              <a:solidFill>
                <a:schemeClr val="tx1"/>
              </a:solidFill>
              <a:latin typeface="Cambria" panose="02040503050406030204" pitchFamily="18" charset="0"/>
              <a:cs typeface="Arial" panose="020B0604020202020204" pitchFamily="34" charset="0"/>
            </a:endParaRPr>
          </a:p>
          <a:p>
            <a:pPr indent="609553" algn="just" defTabSz="121910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1F497D"/>
                </a:solidFill>
                <a:latin typeface="Cambria" panose="02040503050406030204" pitchFamily="18" charset="0"/>
                <a:ea typeface="Calibri" panose="020F0502020204030204" pitchFamily="34" charset="0"/>
                <a:cs typeface="Microsoft Sans Serif" panose="020B0604020202020204" charset="0"/>
              </a:rPr>
              <a:t>    	</a:t>
            </a:r>
            <a:endParaRPr lang="en-US" sz="1900" b="1" dirty="0">
              <a:solidFill>
                <a:schemeClr val="tx1"/>
              </a:solidFill>
              <a:latin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347224" y="6472826"/>
            <a:ext cx="1854073" cy="169294"/>
          </a:xfrm>
        </p:spPr>
        <p:txBody>
          <a:bodyPr/>
          <a:lstStyle/>
          <a:p>
            <a:r>
              <a:rPr lang="en-US" sz="1100">
                <a:latin typeface="Cambria" panose="02040503050406030204" pitchFamily="18" charset="0"/>
                <a:ea typeface="Cambria" panose="02040503050406030204" pitchFamily="18" charset="0"/>
              </a:rPr>
              <a:t>15/05/26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99123" y="6459855"/>
            <a:ext cx="10504703" cy="172755"/>
          </a:xfr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pPr>
              <a:lnSpc>
                <a:spcPct val="110000"/>
              </a:lnSpc>
            </a:pPr>
            <a:endParaRPr lang="en-US" sz="1100" dirty="0">
              <a:solidFill>
                <a:schemeClr val="bg1">
                  <a:lumMod val="95000"/>
                </a:schemeClr>
              </a:solidFill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endParaRPr lang="en-US" sz="1100" dirty="0">
              <a:solidFill>
                <a:schemeClr val="bg1">
                  <a:lumMod val="95000"/>
                </a:schemeClr>
              </a:solidFill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14286" y="6459855"/>
            <a:ext cx="579080" cy="169294"/>
          </a:xfrm>
        </p:spPr>
        <p:txBody>
          <a:bodyPr/>
          <a:lstStyle/>
          <a:p>
            <a:fld id="{615D92F5-C6BD-4770-B93B-CCC7110BADD0}" type="slidenum">
              <a:rPr lang="en-US" sz="1100">
                <a:latin typeface="Cambria" panose="02040503050406030204" pitchFamily="18" charset="0"/>
                <a:ea typeface="Cambria" panose="02040503050406030204" pitchFamily="18" charset="0"/>
              </a:rPr>
              <a:t>1</a:t>
            </a:fld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764775"/>
            <a:ext cx="52387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1753200"/>
            <a:ext cx="52387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583925"/>
            <a:ext cx="52387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2572350"/>
            <a:ext cx="52387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403075"/>
            <a:ext cx="52387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91250" y="3391500"/>
            <a:ext cx="52387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4222225"/>
            <a:ext cx="52387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191250" y="4210650"/>
            <a:ext cx="52387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62000" y="5041375"/>
            <a:ext cx="52387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191250" y="5029800"/>
            <a:ext cx="52387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62000" y="5860525"/>
            <a:ext cx="52387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762000" y="571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INDEX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762000" y="1362075"/>
            <a:ext cx="10668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762000" y="6614737"/>
            <a:ext cx="54292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DeepVision AI | MCA Department | PARUL University</a:t>
            </a:r>
            <a:endParaRPr dirty="0"/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115675" y="6276975"/>
            <a:ext cx="314325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6124575"/>
            <a:ext cx="1066800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48400" y="1857375"/>
            <a:ext cx="5181600" cy="399454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62000" y="571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1. Introduction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762000" y="1362075"/>
            <a:ext cx="10668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762000" y="6324600"/>
            <a:ext cx="464312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DeepVision AI | MCA Department | PARUL University</a:t>
            </a:r>
            <a:endParaRPr dirty="0"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06150" y="6276975"/>
            <a:ext cx="3238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62000" y="1857375"/>
            <a:ext cx="5360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DeepVision AI?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2266950"/>
            <a:ext cx="51054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An advanced image authenticity detection system that differentiates between REAL photographs and AI-generated FAKE images using Deep Learning.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524000" y="3432720"/>
            <a:ext cx="43434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CNN-based binary classification (Real vs Fake).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524000" y="3964185"/>
            <a:ext cx="43434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High-accuracy probability analysis.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524000" y="4495651"/>
            <a:ext cx="43434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Real-time image processing and verification.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524000" y="5027116"/>
            <a:ext cx="43434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Modern responsive interface for instant results.</a:t>
            </a:r>
            <a:endParaRPr/>
          </a:p>
        </p:txBody>
      </p:sp>
      <p:pic>
        <p:nvPicPr>
          <p:cNvPr id="132" name="Google Shape;13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431678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963144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494609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5172819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1D24BC-DA50-7C63-FDC8-3338F277C4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0745" y="1942356"/>
            <a:ext cx="4982575" cy="38082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6124575"/>
            <a:ext cx="1066800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857375"/>
            <a:ext cx="3365450" cy="2150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1857375"/>
            <a:ext cx="3365450" cy="2150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857375"/>
            <a:ext cx="3365599" cy="2150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293691"/>
            <a:ext cx="3365450" cy="2150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13200" y="4293691"/>
            <a:ext cx="3365450" cy="2150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64400" y="4293691"/>
            <a:ext cx="3365599" cy="215056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762000" y="571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2. Application Areas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762000" y="1362075"/>
            <a:ext cx="10668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762000" y="6599197"/>
            <a:ext cx="464376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DeepVision AI | MCA Department | PARUL University</a:t>
            </a:r>
            <a:endParaRPr dirty="0"/>
          </a:p>
        </p:txBody>
      </p:sp>
      <p:pic>
        <p:nvPicPr>
          <p:cNvPr id="150" name="Google Shape;150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715750" y="6459855"/>
            <a:ext cx="3238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1684555" y="2924175"/>
            <a:ext cx="15201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Cybersecurity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1057275" y="3286125"/>
            <a:ext cx="27749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Prevents the spread of deepfakes and identity manipulation.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5405764" y="2924175"/>
            <a:ext cx="138017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Social Media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4708475" y="3286125"/>
            <a:ext cx="27749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Verifying profile authenticity and reported content.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782079" y="2924175"/>
            <a:ext cx="193024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News Verification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8359675" y="3286125"/>
            <a:ext cx="2775049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Combating misinformation and propaganda images.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1524535" y="5360491"/>
            <a:ext cx="184023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Digital Forensics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1057275" y="5722441"/>
            <a:ext cx="27749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Analyzing evidence authenticity in legal investigations.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5390763" y="5360491"/>
            <a:ext cx="141017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Fake Profiles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4708475" y="5722441"/>
            <a:ext cx="27749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Detecting bot-generated profile pictures on networks.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8987105" y="5360491"/>
            <a:ext cx="15201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Govt. Security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8359675" y="5722441"/>
            <a:ext cx="2775049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Protecting official communications and credentials.</a:t>
            </a:r>
            <a:endParaRPr/>
          </a:p>
        </p:txBody>
      </p:sp>
      <p:pic>
        <p:nvPicPr>
          <p:cNvPr id="163" name="Google Shape;163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206525" y="22098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886301" y="220980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509075" y="22098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206525" y="4646116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6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886301" y="4646116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480500" y="4646116"/>
            <a:ext cx="5334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4738687"/>
            <a:ext cx="1066800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124575"/>
            <a:ext cx="1066800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719387"/>
            <a:ext cx="171450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00375" y="2719387"/>
            <a:ext cx="171450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38750" y="2619375"/>
            <a:ext cx="17145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77125" y="2719387"/>
            <a:ext cx="171450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15500" y="2719387"/>
            <a:ext cx="1714500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762000" y="571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3. Methodology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762000" y="1362075"/>
            <a:ext cx="10668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1042670" y="4925377"/>
            <a:ext cx="10077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system utilizes a Sequential Convolutional Neural Network architecture trained on balanced datasets of real and diffusion-generated imagery to achieve peak classification accuracy.</a:t>
            </a:r>
            <a:endParaRPr dirty="0"/>
          </a:p>
        </p:txBody>
      </p:sp>
      <p:sp>
        <p:nvSpPr>
          <p:cNvPr id="184" name="Google Shape;184;p17"/>
          <p:cNvSpPr txBox="1"/>
          <p:nvPr/>
        </p:nvSpPr>
        <p:spPr>
          <a:xfrm>
            <a:off x="776605" y="6557645"/>
            <a:ext cx="54457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DeepVision AI | MCA Department | PARUL University</a:t>
            </a:r>
            <a:endParaRPr dirty="0"/>
          </a:p>
        </p:txBody>
      </p:sp>
      <p:pic>
        <p:nvPicPr>
          <p:cNvPr id="185" name="Google Shape;185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106150" y="6276975"/>
            <a:ext cx="3238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 txBox="1"/>
          <p:nvPr/>
        </p:nvSpPr>
        <p:spPr>
          <a:xfrm>
            <a:off x="990600" y="2947987"/>
            <a:ext cx="1257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1114425" y="3351847"/>
            <a:ext cx="10096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Image Upload</a:t>
            </a:r>
            <a:endParaRPr dirty="0"/>
          </a:p>
        </p:txBody>
      </p:sp>
      <p:sp>
        <p:nvSpPr>
          <p:cNvPr id="188" name="Google Shape;188;p17"/>
          <p:cNvSpPr txBox="1"/>
          <p:nvPr/>
        </p:nvSpPr>
        <p:spPr>
          <a:xfrm>
            <a:off x="3228975" y="2947987"/>
            <a:ext cx="1257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3305175" y="3443287"/>
            <a:ext cx="11049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Preprocessing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5467350" y="2847975"/>
            <a:ext cx="1257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5705475" y="3343275"/>
            <a:ext cx="7810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Feature Extraction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7705725" y="2947987"/>
            <a:ext cx="1257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7829550" y="3443287"/>
            <a:ext cx="10096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CNN Analysis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9944100" y="2947987"/>
            <a:ext cx="1257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05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10182225" y="3443287"/>
            <a:ext cx="781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Prediction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6124575"/>
            <a:ext cx="1066800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0" y="1857375"/>
            <a:ext cx="76200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0" y="2524125"/>
            <a:ext cx="76200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0" y="3190875"/>
            <a:ext cx="76200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0" y="3857625"/>
            <a:ext cx="76200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0" y="4524375"/>
            <a:ext cx="76200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0" y="1857375"/>
            <a:ext cx="73152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0" y="2524125"/>
            <a:ext cx="72390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10000" y="3190875"/>
            <a:ext cx="71628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10000" y="3857625"/>
            <a:ext cx="7010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810000" y="4524375"/>
            <a:ext cx="67056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762000" y="571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4. Algorithms &amp; Techniques</a:t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762000" y="1362075"/>
            <a:ext cx="10668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762000" y="6324600"/>
            <a:ext cx="466652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DeepVision AI | MCA Department | PARUL University</a:t>
            </a:r>
            <a:endParaRPr dirty="0"/>
          </a:p>
        </p:txBody>
      </p:sp>
      <p:pic>
        <p:nvPicPr>
          <p:cNvPr id="215" name="Google Shape;215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106150" y="6276975"/>
            <a:ext cx="3238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 txBox="1"/>
          <p:nvPr/>
        </p:nvSpPr>
        <p:spPr>
          <a:xfrm>
            <a:off x="762000" y="1947862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Convolutional Neural Network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762000" y="2614612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ResNet-50 (Transfer Learning)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762000" y="3281362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Vision Transformers (ViT)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762000" y="3948112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GAN-Discriminator (Hybrid)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762000" y="4614862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SVM (Frequency Baseline)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6124575"/>
            <a:ext cx="106680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/>
        </p:nvSpPr>
        <p:spPr>
          <a:xfrm>
            <a:off x="762000" y="571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5. Tools &amp; Technologies</a:t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762000" y="1362075"/>
            <a:ext cx="10668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762000" y="1857375"/>
            <a:ext cx="10668000" cy="421883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9" name="Google Shape;229;p19"/>
          <p:cNvGraphicFramePr/>
          <p:nvPr/>
        </p:nvGraphicFramePr>
        <p:xfrm>
          <a:off x="762000" y="1857375"/>
          <a:ext cx="10668000" cy="4218900"/>
        </p:xfrm>
        <a:graphic>
          <a:graphicData uri="http://schemas.openxmlformats.org/drawingml/2006/table">
            <a:tbl>
              <a:tblPr firstRow="1" bandRow="1">
                <a:noFill/>
                <a:tableStyleId>{1F95CE08-C6F7-4DF8-9DF5-DDE2EEDDF53E}</a:tableStyleId>
              </a:tblPr>
              <a:tblGrid>
                <a:gridCol w="233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Technology Stack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Primary Function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Core Language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Python 3.11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development and Backend processing.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/ ML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TensorFlow &amp; OpenCV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 training and Image manipulation.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Backend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Flask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Lightweight REST API framework.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Frontend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React.js &amp; Vite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Fast, modern and dynamic User Interface.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Styling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Tailwind CSS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Responsive utility-first design.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Deployment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GitHub &amp; Vercel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Version control and continuous hosting.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0" name="Google Shape;230;p19"/>
          <p:cNvSpPr txBox="1"/>
          <p:nvPr/>
        </p:nvSpPr>
        <p:spPr>
          <a:xfrm>
            <a:off x="762000" y="6324600"/>
            <a:ext cx="510636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DeepVision AI | MCA Department | PARUL University</a:t>
            </a:r>
            <a:endParaRPr dirty="0"/>
          </a:p>
        </p:txBody>
      </p:sp>
      <p:pic>
        <p:nvPicPr>
          <p:cNvPr id="231" name="Google Shape;23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15675" y="6276975"/>
            <a:ext cx="3143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/>
          <p:nvPr/>
        </p:nvSpPr>
        <p:spPr>
          <a:xfrm>
            <a:off x="762000" y="3109763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3100982" y="3109763"/>
            <a:ext cx="30962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6197203" y="3109763"/>
            <a:ext cx="52327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762000" y="3702099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3100982" y="3702099"/>
            <a:ext cx="30962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6197203" y="3702099"/>
            <a:ext cx="52327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762000" y="4294435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3100982" y="4294435"/>
            <a:ext cx="30962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6197203" y="4294435"/>
            <a:ext cx="52327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762000" y="4886771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3100982" y="4886771"/>
            <a:ext cx="30962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6197203" y="4886771"/>
            <a:ext cx="52327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762000" y="5479107"/>
            <a:ext cx="23389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3100982" y="5479107"/>
            <a:ext cx="30962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6197203" y="5479107"/>
            <a:ext cx="52327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850" y="6062662"/>
            <a:ext cx="1066800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857375"/>
            <a:ext cx="3365450" cy="2150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1857375"/>
            <a:ext cx="3365450" cy="2150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857375"/>
            <a:ext cx="3365599" cy="2150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293691"/>
            <a:ext cx="3365450" cy="2150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13200" y="4293691"/>
            <a:ext cx="3365450" cy="2150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64400" y="4293691"/>
            <a:ext cx="3365599" cy="215056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0"/>
          <p:cNvSpPr txBox="1"/>
          <p:nvPr/>
        </p:nvSpPr>
        <p:spPr>
          <a:xfrm>
            <a:off x="762000" y="571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6. Current / Latest R&amp;D Works</a:t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762000" y="1362075"/>
            <a:ext cx="10668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761850" y="6554866"/>
            <a:ext cx="560055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DeepVision AI | MCA Department | PARUL University</a:t>
            </a:r>
            <a:endParaRPr dirty="0"/>
          </a:p>
        </p:txBody>
      </p:sp>
      <p:pic>
        <p:nvPicPr>
          <p:cNvPr id="261" name="Google Shape;261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522839" y="6444257"/>
            <a:ext cx="3238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 txBox="1"/>
          <p:nvPr/>
        </p:nvSpPr>
        <p:spPr>
          <a:xfrm>
            <a:off x="1379517" y="2924175"/>
            <a:ext cx="213026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Transformer-Based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1057275" y="3286125"/>
            <a:ext cx="27749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Leveraging self-attention for global artifact detection.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5300751" y="2924175"/>
            <a:ext cx="159019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Explainable AI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4708475" y="3286125"/>
            <a:ext cx="27749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Visualizing specific heatmaps of fake image pixels.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8672066" y="2924175"/>
            <a:ext cx="215026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Universal Detection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8359675" y="3286125"/>
            <a:ext cx="2775049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Detecting across all generators (DALL-E, Midjourney).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1419522" y="5360491"/>
            <a:ext cx="205025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Frequency Domain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1057275" y="5722441"/>
            <a:ext cx="27749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Identifying unnatural signals in Fourier transforms.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5150733" y="5360491"/>
            <a:ext cx="189023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AI Watermarking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4708475" y="5722441"/>
            <a:ext cx="27749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Developing invisible markers for synthetic media.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8902094" y="5360491"/>
            <a:ext cx="169021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Semantic Fakes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8359675" y="5722441"/>
            <a:ext cx="2775049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Detecting logical inconsistencies in image context.</a:t>
            </a:r>
            <a:endParaRPr/>
          </a:p>
        </p:txBody>
      </p:sp>
      <p:pic>
        <p:nvPicPr>
          <p:cNvPr id="274" name="Google Shape;274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206525" y="22098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829151" y="220980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509075" y="22098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144613" y="4646116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0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914876" y="4646116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0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509075" y="4646116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6124575"/>
            <a:ext cx="1066800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4348" y="4598266"/>
            <a:ext cx="4943475" cy="1175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62675" y="4583609"/>
            <a:ext cx="4943475" cy="117529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1"/>
          <p:cNvSpPr txBox="1"/>
          <p:nvPr/>
        </p:nvSpPr>
        <p:spPr>
          <a:xfrm>
            <a:off x="762000" y="571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7. Results &amp; Performance</a:t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762000" y="1362075"/>
            <a:ext cx="10668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762000" y="6324600"/>
            <a:ext cx="492394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DeepVision AI | MCA Department | PARUL University</a:t>
            </a:r>
            <a:endParaRPr dirty="0"/>
          </a:p>
        </p:txBody>
      </p:sp>
      <p:pic>
        <p:nvPicPr>
          <p:cNvPr id="290" name="Google Shape;29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106150" y="6276975"/>
            <a:ext cx="3238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 txBox="1"/>
          <p:nvPr/>
        </p:nvSpPr>
        <p:spPr>
          <a:xfrm>
            <a:off x="837723" y="4836391"/>
            <a:ext cx="459057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REAL Prediction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837723" y="5055466"/>
            <a:ext cx="43719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Confidence: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99.8%</a:t>
            </a:r>
            <a:endParaRPr dirty="0"/>
          </a:p>
        </p:txBody>
      </p:sp>
      <p:sp>
        <p:nvSpPr>
          <p:cNvPr id="295" name="Google Shape;295;p21"/>
          <p:cNvSpPr txBox="1"/>
          <p:nvPr/>
        </p:nvSpPr>
        <p:spPr>
          <a:xfrm>
            <a:off x="837723" y="5322166"/>
            <a:ext cx="43719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Output: Authentication Verified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6496050" y="4821734"/>
            <a:ext cx="459057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EF4444"/>
                </a:solidFill>
                <a:latin typeface="Merriweather"/>
                <a:ea typeface="Merriweather"/>
                <a:cs typeface="Merriweather"/>
                <a:sym typeface="Merriweather"/>
              </a:rPr>
              <a:t>FAKE Prediction</a:t>
            </a:r>
            <a:endParaRPr dirty="0"/>
          </a:p>
        </p:txBody>
      </p:sp>
      <p:sp>
        <p:nvSpPr>
          <p:cNvPr id="297" name="Google Shape;297;p21"/>
          <p:cNvSpPr txBox="1"/>
          <p:nvPr/>
        </p:nvSpPr>
        <p:spPr>
          <a:xfrm>
            <a:off x="6496050" y="5040809"/>
            <a:ext cx="43719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Confidence: </a:t>
            </a:r>
            <a:r>
              <a:rPr lang="en-US" sz="1500" b="1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100.0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%</a:t>
            </a:r>
            <a:endParaRPr dirty="0"/>
          </a:p>
        </p:txBody>
      </p:sp>
      <p:sp>
        <p:nvSpPr>
          <p:cNvPr id="298" name="Google Shape;298;p21"/>
          <p:cNvSpPr txBox="1"/>
          <p:nvPr/>
        </p:nvSpPr>
        <p:spPr>
          <a:xfrm>
            <a:off x="6496050" y="5307509"/>
            <a:ext cx="43719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Output: AI-Generated Content Detected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E6205-9704-7D5B-B22E-0C525E1E1B5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568"/>
          <a:stretch>
            <a:fillRect/>
          </a:stretch>
        </p:blipFill>
        <p:spPr>
          <a:xfrm>
            <a:off x="6148662" y="1964233"/>
            <a:ext cx="5119413" cy="24669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1D8313-8633-FCEF-F95C-7B0E2592F5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067" y="1964233"/>
            <a:ext cx="5119200" cy="24340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3832770"/>
            <a:ext cx="10668000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124575"/>
            <a:ext cx="106680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2"/>
          <p:cNvSpPr txBox="1"/>
          <p:nvPr/>
        </p:nvSpPr>
        <p:spPr>
          <a:xfrm>
            <a:off x="762000" y="571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8. Future Scope</a:t>
            </a:r>
            <a:endParaRPr/>
          </a:p>
        </p:txBody>
      </p:sp>
      <p:sp>
        <p:nvSpPr>
          <p:cNvPr id="306" name="Google Shape;306;p22"/>
          <p:cNvSpPr/>
          <p:nvPr/>
        </p:nvSpPr>
        <p:spPr>
          <a:xfrm>
            <a:off x="762000" y="1362075"/>
            <a:ext cx="10668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1047750" y="4118520"/>
            <a:ext cx="1120140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Goal: A Unified Digital Truth Layer</a:t>
            </a:r>
            <a:endParaRPr dirty="0"/>
          </a:p>
        </p:txBody>
      </p:sp>
      <p:sp>
        <p:nvSpPr>
          <p:cNvPr id="308" name="Google Shape;308;p22"/>
          <p:cNvSpPr txBox="1"/>
          <p:nvPr/>
        </p:nvSpPr>
        <p:spPr>
          <a:xfrm>
            <a:off x="1047750" y="4432845"/>
            <a:ext cx="10096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To build an ecosystem where any digital asset—be it image, video, or audio—can be verified for authenticity instantly across any platform.</a:t>
            </a:r>
            <a:endParaRPr dirty="0"/>
          </a:p>
        </p:txBody>
      </p:sp>
      <p:sp>
        <p:nvSpPr>
          <p:cNvPr id="309" name="Google Shape;309;p22"/>
          <p:cNvSpPr txBox="1"/>
          <p:nvPr/>
        </p:nvSpPr>
        <p:spPr>
          <a:xfrm>
            <a:off x="762000" y="6324600"/>
            <a:ext cx="387944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DeepVision AI | MCA Department | PARUL University</a:t>
            </a:r>
            <a:endParaRPr dirty="0"/>
          </a:p>
        </p:txBody>
      </p:sp>
      <p:pic>
        <p:nvPicPr>
          <p:cNvPr id="310" name="Google Shape;31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39475" y="6276975"/>
            <a:ext cx="3905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2"/>
          <p:cNvSpPr txBox="1"/>
          <p:nvPr/>
        </p:nvSpPr>
        <p:spPr>
          <a:xfrm>
            <a:off x="1562100" y="1857375"/>
            <a:ext cx="43434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Video Deepfake Detection</a:t>
            </a: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1524000" y="2388840"/>
            <a:ext cx="43815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Live Camera Stream Analysis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1457325" y="2920305"/>
            <a:ext cx="44481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AI Audio / Voice Verification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7124700" y="1857375"/>
            <a:ext cx="43053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Blockchain Result Verification</a:t>
            </a:r>
            <a:endParaRPr/>
          </a:p>
        </p:txBody>
      </p:sp>
      <p:sp>
        <p:nvSpPr>
          <p:cNvPr id="315" name="Google Shape;315;p22"/>
          <p:cNvSpPr txBox="1"/>
          <p:nvPr/>
        </p:nvSpPr>
        <p:spPr>
          <a:xfrm>
            <a:off x="6981825" y="2388840"/>
            <a:ext cx="44481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Mobile App Implementation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7086600" y="2920305"/>
            <a:ext cx="43434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Multi-modal Detection (Text+Img)</a:t>
            </a:r>
            <a:endParaRPr/>
          </a:p>
        </p:txBody>
      </p:sp>
      <p:pic>
        <p:nvPicPr>
          <p:cNvPr id="317" name="Google Shape;31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1856333"/>
            <a:ext cx="3238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2387798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2919263"/>
            <a:ext cx="2190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86500" y="1856333"/>
            <a:ext cx="3619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86500" y="2387798"/>
            <a:ext cx="2190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286500" y="2919263"/>
            <a:ext cx="3238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6124575"/>
            <a:ext cx="106680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3"/>
          <p:cNvSpPr txBox="1"/>
          <p:nvPr/>
        </p:nvSpPr>
        <p:spPr>
          <a:xfrm>
            <a:off x="762000" y="571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9. Conclusion</a:t>
            </a:r>
            <a:endParaRPr/>
          </a:p>
        </p:txBody>
      </p:sp>
      <p:sp>
        <p:nvSpPr>
          <p:cNvPr id="329" name="Google Shape;329;p23"/>
          <p:cNvSpPr/>
          <p:nvPr/>
        </p:nvSpPr>
        <p:spPr>
          <a:xfrm>
            <a:off x="762000" y="1362075"/>
            <a:ext cx="10668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3"/>
          <p:cNvSpPr txBox="1"/>
          <p:nvPr/>
        </p:nvSpPr>
        <p:spPr>
          <a:xfrm>
            <a:off x="1485900" y="1952625"/>
            <a:ext cx="99441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DeepVision AI successfully achieves 96%+ accuracy in detecting AI-generated images.</a:t>
            </a:r>
            <a:endParaRPr dirty="0"/>
          </a:p>
        </p:txBody>
      </p:sp>
      <p:sp>
        <p:nvSpPr>
          <p:cNvPr id="331" name="Google Shape;331;p23"/>
          <p:cNvSpPr txBox="1"/>
          <p:nvPr/>
        </p:nvSpPr>
        <p:spPr>
          <a:xfrm>
            <a:off x="1485900" y="2484090"/>
            <a:ext cx="99441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CNN architectures prove significantly effective in identifying synthetic spatial artifacts.</a:t>
            </a:r>
            <a:endParaRPr/>
          </a:p>
        </p:txBody>
      </p:sp>
      <p:sp>
        <p:nvSpPr>
          <p:cNvPr id="332" name="Google Shape;332;p23"/>
          <p:cNvSpPr txBox="1"/>
          <p:nvPr/>
        </p:nvSpPr>
        <p:spPr>
          <a:xfrm>
            <a:off x="1485900" y="3015555"/>
            <a:ext cx="99441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Real-time deployment via Flask and React provides a scalable solution for public use.</a:t>
            </a:r>
            <a:endParaRPr/>
          </a:p>
        </p:txBody>
      </p:sp>
      <p:sp>
        <p:nvSpPr>
          <p:cNvPr id="333" name="Google Shape;333;p23"/>
          <p:cNvSpPr txBox="1"/>
          <p:nvPr/>
        </p:nvSpPr>
        <p:spPr>
          <a:xfrm>
            <a:off x="1485900" y="3547020"/>
            <a:ext cx="99441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Future integrations will solidify the system as a primary defense against digital misinformation.</a:t>
            </a:r>
            <a:endParaRPr/>
          </a:p>
        </p:txBody>
      </p:sp>
      <p:pic>
        <p:nvPicPr>
          <p:cNvPr id="334" name="Google Shape;33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6450" y="5030985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3"/>
          <p:cNvSpPr txBox="1"/>
          <p:nvPr/>
        </p:nvSpPr>
        <p:spPr>
          <a:xfrm>
            <a:off x="495300" y="5507235"/>
            <a:ext cx="112014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"Preserving the Integrity of Reality in an AI-Driven World."</a:t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762000" y="6324600"/>
            <a:ext cx="438873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DeepVision AI | MCA Department | PARUL University</a:t>
            </a:r>
            <a:endParaRPr dirty="0"/>
          </a:p>
        </p:txBody>
      </p:sp>
      <p:pic>
        <p:nvPicPr>
          <p:cNvPr id="337" name="Google Shape;33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87100" y="6276975"/>
            <a:ext cx="3429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1951583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483048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014513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545978"/>
            <a:ext cx="2476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6124575"/>
            <a:ext cx="106680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4"/>
          <p:cNvSpPr txBox="1"/>
          <p:nvPr/>
        </p:nvSpPr>
        <p:spPr>
          <a:xfrm>
            <a:off x="762000" y="5715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10. Bibliography / References</a:t>
            </a:r>
            <a:endParaRPr/>
          </a:p>
        </p:txBody>
      </p:sp>
      <p:sp>
        <p:nvSpPr>
          <p:cNvPr id="348" name="Google Shape;348;p24"/>
          <p:cNvSpPr/>
          <p:nvPr/>
        </p:nvSpPr>
        <p:spPr>
          <a:xfrm>
            <a:off x="762000" y="1362075"/>
            <a:ext cx="10668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4"/>
          <p:cNvSpPr txBox="1"/>
          <p:nvPr/>
        </p:nvSpPr>
        <p:spPr>
          <a:xfrm>
            <a:off x="762000" y="6324600"/>
            <a:ext cx="494431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DeepVision AI | MCA Department | PARUL University</a:t>
            </a:r>
            <a:endParaRPr dirty="0"/>
          </a:p>
        </p:txBody>
      </p:sp>
      <p:pic>
        <p:nvPicPr>
          <p:cNvPr id="350" name="Google Shape;35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58525" y="6276975"/>
            <a:ext cx="37147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4"/>
          <p:cNvSpPr txBox="1"/>
          <p:nvPr/>
        </p:nvSpPr>
        <p:spPr>
          <a:xfrm>
            <a:off x="1485900" y="1857375"/>
            <a:ext cx="99441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[1] Goodfellow, I. et al. (2014). "Generative Adversarial Nets." Advances in Neural Information Processing Systems.</a:t>
            </a:r>
            <a:endParaRPr/>
          </a:p>
        </p:txBody>
      </p:sp>
      <p:sp>
        <p:nvSpPr>
          <p:cNvPr id="352" name="Google Shape;352;p24"/>
          <p:cNvSpPr txBox="1"/>
          <p:nvPr/>
        </p:nvSpPr>
        <p:spPr>
          <a:xfrm>
            <a:off x="1485900" y="2682180"/>
            <a:ext cx="99441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[2] Wang, S. et al. (2020). "CNN-generated images are surprisingly easy to spot... for now." IEEE Conference on Computer Vision and Pattern Recognition.</a:t>
            </a:r>
            <a:endParaRPr/>
          </a:p>
        </p:txBody>
      </p:sp>
      <p:sp>
        <p:nvSpPr>
          <p:cNvPr id="353" name="Google Shape;353;p24"/>
          <p:cNvSpPr txBox="1"/>
          <p:nvPr/>
        </p:nvSpPr>
        <p:spPr>
          <a:xfrm>
            <a:off x="1485900" y="3506985"/>
            <a:ext cx="99441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[3] Rombach, R. et al. (2022). "High-Resolution Image Synthesis with Latent Diffusion Models." CVPR.</a:t>
            </a:r>
            <a:endParaRPr/>
          </a:p>
        </p:txBody>
      </p:sp>
      <p:sp>
        <p:nvSpPr>
          <p:cNvPr id="354" name="Google Shape;354;p24"/>
          <p:cNvSpPr txBox="1"/>
          <p:nvPr/>
        </p:nvSpPr>
        <p:spPr>
          <a:xfrm>
            <a:off x="1485900" y="4038451"/>
            <a:ext cx="99441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[4] Corvi, R. et al. (2023). "Detection of Stable Diffusion Generated Images." IEEE ICASSP.</a:t>
            </a:r>
            <a:endParaRPr/>
          </a:p>
        </p:txBody>
      </p:sp>
      <p:sp>
        <p:nvSpPr>
          <p:cNvPr id="355" name="Google Shape;355;p24"/>
          <p:cNvSpPr txBox="1"/>
          <p:nvPr/>
        </p:nvSpPr>
        <p:spPr>
          <a:xfrm>
            <a:off x="1485900" y="4569916"/>
            <a:ext cx="99441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[5] Karras, T. et al. (2019). "A Style-Based Generator Architecture for GANs." IEEE Transactions on Pattern Analysis and Machine Intelligence.</a:t>
            </a:r>
            <a:endParaRPr/>
          </a:p>
        </p:txBody>
      </p:sp>
      <p:sp>
        <p:nvSpPr>
          <p:cNvPr id="356" name="Google Shape;356;p24"/>
          <p:cNvSpPr txBox="1"/>
          <p:nvPr/>
        </p:nvSpPr>
        <p:spPr>
          <a:xfrm>
            <a:off x="1485900" y="5394721"/>
            <a:ext cx="99441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[6] CIFAKE Dataset (2023). Kaggle: Real and AI-Generated Image Classification Dataset.</a:t>
            </a:r>
            <a:endParaRPr/>
          </a:p>
        </p:txBody>
      </p:sp>
      <p:pic>
        <p:nvPicPr>
          <p:cNvPr id="357" name="Google Shape;35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003077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827883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505944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037409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715619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393680"/>
            <a:ext cx="2476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</Words>
  <Application>Microsoft Office PowerPoint</Application>
  <PresentationFormat>Widescreen</PresentationFormat>
  <Paragraphs>129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Times New Roman</vt:lpstr>
      <vt:lpstr>Merriweather</vt:lpstr>
      <vt:lpstr>Calibri</vt:lpstr>
      <vt:lpstr>Cambria</vt:lpstr>
      <vt:lpstr>Arial</vt:lpstr>
      <vt:lpstr>DM Sans</vt:lpstr>
      <vt:lpstr>DM Sans Medium</vt:lpstr>
      <vt:lpstr>Office Theme</vt:lpstr>
      <vt:lpstr>DeepVision AI AI-Powered Fake Image Detection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MAYANK MALI</dc:creator>
  <cp:lastModifiedBy>MAYANK MALI</cp:lastModifiedBy>
  <cp:revision>1</cp:revision>
  <dcterms:modified xsi:type="dcterms:W3CDTF">2026-05-14T18:51:44Z</dcterms:modified>
</cp:coreProperties>
</file>